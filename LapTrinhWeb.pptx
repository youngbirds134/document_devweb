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56" r:id="rId2"/>
    <p:sldId id="257" r:id="rId3"/>
    <p:sldId id="260" r:id="rId4"/>
    <p:sldId id="265" r:id="rId5"/>
    <p:sldId id="261" r:id="rId6"/>
    <p:sldId id="262" r:id="rId7"/>
    <p:sldId id="258" r:id="rId8"/>
    <p:sldId id="259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hần 1" id="{A7B285E8-410B-4C6E-8258-6896EC3B2F16}">
          <p14:sldIdLst>
            <p14:sldId id="256"/>
            <p14:sldId id="257"/>
            <p14:sldId id="260"/>
            <p14:sldId id="265"/>
            <p14:sldId id="261"/>
            <p14:sldId id="262"/>
            <p14:sldId id="258"/>
            <p14:sldId id="259"/>
          </p14:sldIdLst>
        </p14:section>
        <p14:section name="Phần 2" id="{DD4366EC-3DAC-403A-83A3-5FB13E0979C5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4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939567" y="-310167"/>
            <a:ext cx="10658800" cy="5485200"/>
          </a:xfrm>
          <a:prstGeom prst="roundRect">
            <a:avLst>
              <a:gd name="adj" fmla="val 16667"/>
            </a:avLst>
          </a:prstGeom>
          <a:solidFill>
            <a:srgbClr val="EE8C94">
              <a:alpha val="606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>
            <a:off x="7218533" y="3763467"/>
            <a:ext cx="3884400" cy="3480000"/>
          </a:xfrm>
          <a:prstGeom prst="roundRect">
            <a:avLst>
              <a:gd name="adj" fmla="val 16667"/>
            </a:avLst>
          </a:prstGeom>
          <a:solidFill>
            <a:srgbClr val="AED7E8">
              <a:alpha val="528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 rot="5400000">
            <a:off x="10531767" y="543600"/>
            <a:ext cx="2815200" cy="2603200"/>
          </a:xfrm>
          <a:prstGeom prst="roundRect">
            <a:avLst>
              <a:gd name="adj" fmla="val 16667"/>
            </a:avLst>
          </a:prstGeom>
          <a:solidFill>
            <a:srgbClr val="AED7E8">
              <a:alpha val="528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 rot="896">
            <a:off x="1391601" y="1210400"/>
            <a:ext cx="9205600" cy="2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800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Thasadith"/>
              <a:buNone/>
              <a:defRPr sz="6933">
                <a:latin typeface="Thasadith"/>
                <a:ea typeface="Thasadith"/>
                <a:cs typeface="Thasadith"/>
                <a:sym typeface="Thasadith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Thasadith"/>
              <a:buNone/>
              <a:defRPr sz="6933">
                <a:latin typeface="Thasadith"/>
                <a:ea typeface="Thasadith"/>
                <a:cs typeface="Thasadith"/>
                <a:sym typeface="Thasadith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Thasadith"/>
              <a:buNone/>
              <a:defRPr sz="6933">
                <a:latin typeface="Thasadith"/>
                <a:ea typeface="Thasadith"/>
                <a:cs typeface="Thasadith"/>
                <a:sym typeface="Thasadith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Thasadith"/>
              <a:buNone/>
              <a:defRPr sz="6933">
                <a:latin typeface="Thasadith"/>
                <a:ea typeface="Thasadith"/>
                <a:cs typeface="Thasadith"/>
                <a:sym typeface="Thasadith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Thasadith"/>
              <a:buNone/>
              <a:defRPr sz="6933">
                <a:latin typeface="Thasadith"/>
                <a:ea typeface="Thasadith"/>
                <a:cs typeface="Thasadith"/>
                <a:sym typeface="Thasadith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Thasadith"/>
              <a:buNone/>
              <a:defRPr sz="6933">
                <a:latin typeface="Thasadith"/>
                <a:ea typeface="Thasadith"/>
                <a:cs typeface="Thasadith"/>
                <a:sym typeface="Thasadith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Thasadith"/>
              <a:buNone/>
              <a:defRPr sz="6933">
                <a:latin typeface="Thasadith"/>
                <a:ea typeface="Thasadith"/>
                <a:cs typeface="Thasadith"/>
                <a:sym typeface="Thasadith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Thasadith"/>
              <a:buNone/>
              <a:defRPr sz="6933">
                <a:latin typeface="Thasadith"/>
                <a:ea typeface="Thasadith"/>
                <a:cs typeface="Thasadith"/>
                <a:sym typeface="Thasadith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 rot="1416">
            <a:off x="7275949" y="5254433"/>
            <a:ext cx="3884400" cy="10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erif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erif"/>
              <a:buNone/>
              <a:defRPr sz="3733">
                <a:latin typeface="PT Serif"/>
                <a:ea typeface="PT Serif"/>
                <a:cs typeface="PT Serif"/>
                <a:sym typeface="PT Serif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erif"/>
              <a:buNone/>
              <a:defRPr sz="3733">
                <a:latin typeface="PT Serif"/>
                <a:ea typeface="PT Serif"/>
                <a:cs typeface="PT Serif"/>
                <a:sym typeface="PT Serif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erif"/>
              <a:buNone/>
              <a:defRPr sz="3733">
                <a:latin typeface="PT Serif"/>
                <a:ea typeface="PT Serif"/>
                <a:cs typeface="PT Serif"/>
                <a:sym typeface="PT Serif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erif"/>
              <a:buNone/>
              <a:defRPr sz="3733">
                <a:latin typeface="PT Serif"/>
                <a:ea typeface="PT Serif"/>
                <a:cs typeface="PT Serif"/>
                <a:sym typeface="PT Serif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erif"/>
              <a:buNone/>
              <a:defRPr sz="3733">
                <a:latin typeface="PT Serif"/>
                <a:ea typeface="PT Serif"/>
                <a:cs typeface="PT Serif"/>
                <a:sym typeface="PT Serif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erif"/>
              <a:buNone/>
              <a:defRPr sz="3733">
                <a:latin typeface="PT Serif"/>
                <a:ea typeface="PT Serif"/>
                <a:cs typeface="PT Serif"/>
                <a:sym typeface="PT Serif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erif"/>
              <a:buNone/>
              <a:defRPr sz="3733">
                <a:latin typeface="PT Serif"/>
                <a:ea typeface="PT Serif"/>
                <a:cs typeface="PT Serif"/>
                <a:sym typeface="PT Serif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erif"/>
              <a:buNone/>
              <a:defRPr sz="3733">
                <a:latin typeface="PT Serif"/>
                <a:ea typeface="PT Serif"/>
                <a:cs typeface="PT Serif"/>
                <a:sym typeface="PT Serif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" name="Rectangle 1"/>
          <p:cNvSpPr/>
          <p:nvPr userDrawn="1"/>
        </p:nvSpPr>
        <p:spPr>
          <a:xfrm>
            <a:off x="0" y="6581001"/>
            <a:ext cx="2443746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b="0" cap="none" spc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Coppyright</a:t>
            </a:r>
            <a:r>
              <a:rPr lang="en-US" sz="1200" b="0" cap="none" spc="0" baseline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© Nguyen Thanh Huy</a:t>
            </a:r>
            <a:endParaRPr lang="en-US" sz="1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63708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-165000" y="-54567"/>
            <a:ext cx="2019200" cy="1410800"/>
          </a:xfrm>
          <a:prstGeom prst="roundRect">
            <a:avLst>
              <a:gd name="adj" fmla="val 16667"/>
            </a:avLst>
          </a:prstGeom>
          <a:solidFill>
            <a:srgbClr val="EE8C94">
              <a:alpha val="2527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" name="Google Shape;36;p7"/>
          <p:cNvSpPr txBox="1">
            <a:spLocks noGrp="1"/>
          </p:cNvSpPr>
          <p:nvPr>
            <p:ph type="subTitle" idx="1"/>
          </p:nvPr>
        </p:nvSpPr>
        <p:spPr>
          <a:xfrm flipH="1">
            <a:off x="833000" y="1762400"/>
            <a:ext cx="10272000" cy="44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792876" y="474188"/>
            <a:ext cx="4207200" cy="16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Rectangle 2"/>
          <p:cNvSpPr/>
          <p:nvPr userDrawn="1"/>
        </p:nvSpPr>
        <p:spPr>
          <a:xfrm>
            <a:off x="0" y="6550223"/>
            <a:ext cx="2725425" cy="30777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sz="1400" b="0" cap="none" spc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Coppyright © Nguyen</a:t>
            </a:r>
            <a:r>
              <a:rPr lang="en-US" sz="1400" b="0" cap="none" spc="0" baseline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ThanhHuy</a:t>
            </a:r>
            <a:endParaRPr lang="en-US" sz="14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09309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-165000" y="-54567"/>
            <a:ext cx="2019200" cy="1410800"/>
          </a:xfrm>
          <a:prstGeom prst="roundRect">
            <a:avLst>
              <a:gd name="adj" fmla="val 16667"/>
            </a:avLst>
          </a:prstGeom>
          <a:solidFill>
            <a:srgbClr val="EE8C94">
              <a:alpha val="2527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10"/>
          <p:cNvSpPr txBox="1">
            <a:spLocks noGrp="1"/>
          </p:cNvSpPr>
          <p:nvPr>
            <p:ph type="subTitle" idx="1"/>
          </p:nvPr>
        </p:nvSpPr>
        <p:spPr>
          <a:xfrm flipH="1">
            <a:off x="812773" y="1648373"/>
            <a:ext cx="2982800" cy="33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792868" y="474193"/>
            <a:ext cx="34108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" name="Rectangle 1"/>
          <p:cNvSpPr/>
          <p:nvPr userDrawn="1"/>
        </p:nvSpPr>
        <p:spPr>
          <a:xfrm>
            <a:off x="0" y="6550223"/>
            <a:ext cx="2725425" cy="30777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sz="1400" b="0" cap="none" spc="0" smtClean="0">
                <a:ln w="0"/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Coppyright © Nguyen</a:t>
            </a:r>
            <a:r>
              <a:rPr lang="en-US" sz="1400" b="0" cap="none" spc="0" baseline="0" smtClean="0">
                <a:ln w="0"/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ThanhHuy</a:t>
            </a:r>
            <a:endParaRPr lang="en-US" sz="1400" b="0" cap="none" spc="0">
              <a:ln w="0"/>
              <a:solidFill>
                <a:schemeClr val="tx1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7470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vel"/>
              <a:buNone/>
              <a:defRPr sz="2400" b="1">
                <a:solidFill>
                  <a:schemeClr val="dk1"/>
                </a:solidFill>
                <a:latin typeface="Marvel"/>
                <a:ea typeface="Marvel"/>
                <a:cs typeface="Marvel"/>
                <a:sym typeface="Marv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vel"/>
              <a:buNone/>
              <a:defRPr sz="2400" b="1">
                <a:solidFill>
                  <a:schemeClr val="dk1"/>
                </a:solidFill>
                <a:latin typeface="Marvel"/>
                <a:ea typeface="Marvel"/>
                <a:cs typeface="Marvel"/>
                <a:sym typeface="Marve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vel"/>
              <a:buNone/>
              <a:defRPr sz="2400" b="1">
                <a:solidFill>
                  <a:schemeClr val="dk1"/>
                </a:solidFill>
                <a:latin typeface="Marvel"/>
                <a:ea typeface="Marvel"/>
                <a:cs typeface="Marvel"/>
                <a:sym typeface="Marve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vel"/>
              <a:buNone/>
              <a:defRPr sz="2400" b="1">
                <a:solidFill>
                  <a:schemeClr val="dk1"/>
                </a:solidFill>
                <a:latin typeface="Marvel"/>
                <a:ea typeface="Marvel"/>
                <a:cs typeface="Marvel"/>
                <a:sym typeface="Marve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vel"/>
              <a:buNone/>
              <a:defRPr sz="2400" b="1">
                <a:solidFill>
                  <a:schemeClr val="dk1"/>
                </a:solidFill>
                <a:latin typeface="Marvel"/>
                <a:ea typeface="Marvel"/>
                <a:cs typeface="Marvel"/>
                <a:sym typeface="Marve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vel"/>
              <a:buNone/>
              <a:defRPr sz="2400" b="1">
                <a:solidFill>
                  <a:schemeClr val="dk1"/>
                </a:solidFill>
                <a:latin typeface="Marvel"/>
                <a:ea typeface="Marvel"/>
                <a:cs typeface="Marvel"/>
                <a:sym typeface="Marve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vel"/>
              <a:buNone/>
              <a:defRPr sz="2400" b="1">
                <a:solidFill>
                  <a:schemeClr val="dk1"/>
                </a:solidFill>
                <a:latin typeface="Marvel"/>
                <a:ea typeface="Marvel"/>
                <a:cs typeface="Marvel"/>
                <a:sym typeface="Marve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vel"/>
              <a:buNone/>
              <a:defRPr sz="2400" b="1">
                <a:solidFill>
                  <a:schemeClr val="dk1"/>
                </a:solidFill>
                <a:latin typeface="Marvel"/>
                <a:ea typeface="Marvel"/>
                <a:cs typeface="Marvel"/>
                <a:sym typeface="Marve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rvel"/>
              <a:buNone/>
              <a:defRPr sz="2400" b="1">
                <a:solidFill>
                  <a:schemeClr val="dk1"/>
                </a:solidFill>
                <a:latin typeface="Marvel"/>
                <a:ea typeface="Marvel"/>
                <a:cs typeface="Marvel"/>
                <a:sym typeface="Marv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 ExtraLight"/>
              <a:buChar char="●"/>
              <a:defRPr sz="18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 ExtraLight"/>
              <a:buChar char="○"/>
              <a:defRPr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ExtraLight"/>
              <a:buChar char="■"/>
              <a:defRPr sz="12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ExtraLight"/>
              <a:buChar char="●"/>
              <a:defRPr sz="12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ExtraLight"/>
              <a:buChar char="○"/>
              <a:defRPr sz="12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ExtraLight"/>
              <a:buChar char="■"/>
              <a:defRPr sz="12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ExtraLight"/>
              <a:buChar char="●"/>
              <a:defRPr sz="12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ExtraLight"/>
              <a:buChar char="○"/>
              <a:defRPr sz="12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ssistant ExtraLight"/>
              <a:buChar char="■"/>
              <a:defRPr sz="1200">
                <a:solidFill>
                  <a:schemeClr val="dk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85720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81" r:id="rId2"/>
    <p:sldLayoutId id="2147483684" r:id="rId3"/>
  </p:sldLayoutIdLst>
  <p:timing>
    <p:tnLst>
      <p:par>
        <p:cTn id="1" dur="indefinite" restart="never" nodeType="tmRoot"/>
      </p:par>
    </p:tnLst>
  </p:timing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groups/832920466869765/" TargetMode="External"/><Relationship Id="rId3" Type="http://schemas.openxmlformats.org/officeDocument/2006/relationships/hyperlink" Target="https://xuanthulab.net/khai-quat-ve-html.html" TargetMode="External"/><Relationship Id="rId7" Type="http://schemas.openxmlformats.org/officeDocument/2006/relationships/hyperlink" Target="https://www.facebook.com/groups/1065116420221723/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hiepsiit.com/detail/html/ngonngucss" TargetMode="External"/><Relationship Id="rId5" Type="http://schemas.openxmlformats.org/officeDocument/2006/relationships/hyperlink" Target="http://hiepsiit.com/detail/html/ngon-ngu-html" TargetMode="External"/><Relationship Id="rId4" Type="http://schemas.openxmlformats.org/officeDocument/2006/relationships/hyperlink" Target="https://xuanthulab.net/css-la-gi-cach-nhung-ma-css-vao-html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uoitre.vn/" TargetMode="External"/><Relationship Id="rId2" Type="http://schemas.openxmlformats.org/officeDocument/2006/relationships/hyperlink" Target="https://www.youtub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alo.me/pc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7mks1km0KrIqpw7I2poIyqBuWuQFMAdS/view?usp=shari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THIẾT KẾ WEB Căn Bản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8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Tx/>
              <a:buChar char="-"/>
            </a:pPr>
            <a:endParaRPr lang="en-US" smtClean="0"/>
          </a:p>
          <a:p>
            <a:pPr>
              <a:buFontTx/>
              <a:buChar char="-"/>
            </a:pPr>
            <a:r>
              <a:rPr lang="en-US" smtClean="0"/>
              <a:t>Có kiến thức cơ bản về thiết kế website , là nền tảng cho môn Công nghệ web</a:t>
            </a:r>
          </a:p>
          <a:p>
            <a:pPr marL="114300" indent="0">
              <a:buNone/>
            </a:pPr>
            <a:endParaRPr lang="en-US" smtClean="0"/>
          </a:p>
          <a:p>
            <a:pPr>
              <a:buFontTx/>
              <a:buChar char="-"/>
            </a:pPr>
            <a:r>
              <a:rPr lang="en-US" smtClean="0"/>
              <a:t>Tự thiết kế riêng cho mình một trang website tĩnh</a:t>
            </a:r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r>
              <a:rPr lang="en-US" smtClean="0"/>
              <a:t> Thời gian kết thúc dự kiến 13 buổi</a:t>
            </a:r>
          </a:p>
          <a:p>
            <a:pPr>
              <a:buFontTx/>
              <a:buChar char="-"/>
            </a:pP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Mục Tiêu Môn Học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6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mtClean="0"/>
              <a:t>Phần 1 – Giới thiệu &amp; Cài đặt phần mềm sử dụng</a:t>
            </a:r>
          </a:p>
          <a:p>
            <a:pPr marL="114300" indent="0">
              <a:buNone/>
            </a:pPr>
            <a:r>
              <a:rPr lang="en-US" smtClean="0"/>
              <a:t>Phần 2 – Làm quen với HTML</a:t>
            </a:r>
          </a:p>
          <a:p>
            <a:pPr marL="114300" indent="0">
              <a:buNone/>
            </a:pPr>
            <a:r>
              <a:rPr lang="en-US" smtClean="0"/>
              <a:t>Phần 3 – Làm quen với CSS</a:t>
            </a:r>
          </a:p>
          <a:p>
            <a:pPr marL="114300" indent="0">
              <a:buNone/>
            </a:pPr>
            <a:r>
              <a:rPr lang="en-US" smtClean="0"/>
              <a:t>Phần 4 – Làm quen với Javascript</a:t>
            </a:r>
          </a:p>
          <a:p>
            <a:pPr marL="114300" indent="0">
              <a:buNone/>
            </a:pPr>
            <a:r>
              <a:rPr lang="en-US" smtClean="0"/>
              <a:t>Phần 5 – Tiểu luận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0"/>
              <a:t>NỘI DUNG HỌC</a:t>
            </a:r>
          </a:p>
        </p:txBody>
      </p:sp>
    </p:spTree>
    <p:extLst>
      <p:ext uri="{BB962C8B-B14F-4D97-AF65-F5344CB8AC3E}">
        <p14:creationId xmlns:p14="http://schemas.microsoft.com/office/powerpoint/2010/main" val="157067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>
                <a:hlinkClick r:id="rId2"/>
              </a:rPr>
              <a:t>https://www.w3schools.com/</a:t>
            </a:r>
            <a:r>
              <a:rPr lang="en-US" smtClean="0"/>
              <a:t> </a:t>
            </a:r>
          </a:p>
          <a:p>
            <a:r>
              <a:rPr lang="en-US">
                <a:hlinkClick r:id="rId3"/>
              </a:rPr>
              <a:t>https</a:t>
            </a:r>
            <a:r>
              <a:rPr lang="en-US">
                <a:hlinkClick r:id="rId3"/>
              </a:rPr>
              <a:t>://</a:t>
            </a:r>
            <a:r>
              <a:rPr lang="en-US" smtClean="0">
                <a:hlinkClick r:id="rId3"/>
              </a:rPr>
              <a:t>xuanthulab.net/khai-quat-ve-html.html</a:t>
            </a:r>
            <a:endParaRPr lang="en-US" smtClean="0"/>
          </a:p>
          <a:p>
            <a:r>
              <a:rPr lang="en-US">
                <a:hlinkClick r:id="rId4"/>
              </a:rPr>
              <a:t>https</a:t>
            </a:r>
            <a:r>
              <a:rPr lang="en-US">
                <a:hlinkClick r:id="rId4"/>
              </a:rPr>
              <a:t>://</a:t>
            </a:r>
            <a:r>
              <a:rPr lang="en-US" smtClean="0">
                <a:hlinkClick r:id="rId4"/>
              </a:rPr>
              <a:t>xuanthulab.net/css-la-gi-cach-nhung-ma-css-vao-html.html</a:t>
            </a:r>
            <a:endParaRPr lang="en-US" smtClean="0"/>
          </a:p>
          <a:p>
            <a:r>
              <a:rPr lang="en-US" smtClean="0">
                <a:hlinkClick r:id="rId5"/>
              </a:rPr>
              <a:t>http://hiepsiit.com/detail/html/ngon-ngu-html</a:t>
            </a:r>
            <a:endParaRPr lang="en-US">
              <a:hlinkClick r:id="rId5"/>
            </a:endParaRPr>
          </a:p>
          <a:p>
            <a:r>
              <a:rPr lang="en-US" smtClean="0">
                <a:hlinkClick r:id="rId6"/>
              </a:rPr>
              <a:t>http://hiepsiit.com/detail/html/ngonngucss</a:t>
            </a:r>
            <a:endParaRPr lang="en-US" smtClean="0"/>
          </a:p>
          <a:p>
            <a:r>
              <a:rPr lang="en-US" smtClean="0">
                <a:hlinkClick r:id="rId7"/>
              </a:rPr>
              <a:t>https://www.facebook.com/groups/1065116420221723/</a:t>
            </a:r>
            <a:endParaRPr lang="en-US" smtClean="0"/>
          </a:p>
          <a:p>
            <a:r>
              <a:rPr lang="en-US" smtClean="0">
                <a:hlinkClick r:id="rId8"/>
              </a:rPr>
              <a:t>https://www.facebook.com/groups/832920466869765/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Tài Liệu Tham Khảo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mtClean="0"/>
              <a:t>Trang web là gì?</a:t>
            </a:r>
          </a:p>
          <a:p>
            <a:pPr marL="114300" indent="0">
              <a:buNone/>
            </a:pPr>
            <a:r>
              <a:rPr lang="en-US"/>
              <a:t> </a:t>
            </a:r>
            <a:r>
              <a:rPr lang="en-US" smtClean="0"/>
              <a:t>   - </a:t>
            </a:r>
            <a:r>
              <a:rPr lang="vi-VN"/>
              <a:t>Một trang web là một tập tin chứa </a:t>
            </a:r>
            <a:r>
              <a:rPr lang="vi-VN"/>
              <a:t>thông </a:t>
            </a:r>
            <a:r>
              <a:rPr lang="vi-VN" smtClean="0"/>
              <a:t>tin</a:t>
            </a:r>
            <a:r>
              <a:rPr lang="en-US" smtClean="0"/>
              <a:t> (văn bản, hình ảnh, âm thanh, video,…)</a:t>
            </a:r>
            <a:r>
              <a:rPr lang="vi-VN" smtClean="0"/>
              <a:t> </a:t>
            </a:r>
            <a:r>
              <a:rPr lang="vi-VN"/>
              <a:t>được hiển thị cho người </a:t>
            </a:r>
            <a:r>
              <a:rPr lang="vi-VN"/>
              <a:t>sử </a:t>
            </a:r>
            <a:r>
              <a:rPr lang="vi-VN" smtClean="0"/>
              <a:t>dụng</a:t>
            </a:r>
            <a:r>
              <a:rPr lang="en-US" smtClean="0"/>
              <a:t> xem và tương tác</a:t>
            </a:r>
          </a:p>
          <a:p>
            <a:pPr marL="114300" indent="0">
              <a:buNone/>
            </a:pPr>
            <a:endParaRPr lang="en-US"/>
          </a:p>
          <a:p>
            <a:pPr marL="114300" indent="0">
              <a:buNone/>
            </a:pPr>
            <a:r>
              <a:rPr lang="en-US" smtClean="0"/>
              <a:t>   - VD: </a:t>
            </a:r>
            <a:r>
              <a:rPr lang="en-US" smtClean="0">
                <a:hlinkClick r:id="rId2"/>
              </a:rPr>
              <a:t>https://www.youtube.com/</a:t>
            </a:r>
            <a:r>
              <a:rPr lang="en-US" smtClean="0"/>
              <a:t>   </a:t>
            </a:r>
          </a:p>
          <a:p>
            <a:pPr marL="114300" indent="0">
              <a:buNone/>
            </a:pPr>
            <a:r>
              <a:rPr lang="en-US"/>
              <a:t> </a:t>
            </a:r>
            <a:r>
              <a:rPr lang="en-US" smtClean="0"/>
              <a:t>           </a:t>
            </a:r>
            <a:r>
              <a:rPr lang="en-US" smtClean="0">
                <a:hlinkClick r:id="rId3"/>
              </a:rPr>
              <a:t>https://tuoitre.vn/</a:t>
            </a:r>
            <a:endParaRPr lang="en-US" smtClean="0"/>
          </a:p>
          <a:p>
            <a:pPr marL="114300" indent="0">
              <a:buNone/>
            </a:pPr>
            <a:r>
              <a:rPr lang="en-US"/>
              <a:t> </a:t>
            </a:r>
            <a:r>
              <a:rPr lang="en-US" smtClean="0"/>
              <a:t>           </a:t>
            </a:r>
            <a:r>
              <a:rPr lang="en-US" smtClean="0">
                <a:hlinkClick r:id="rId4"/>
              </a:rPr>
              <a:t>https://zalo.me/pc 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Giới Thiệu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5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Giới Thiệu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61" y="1315388"/>
            <a:ext cx="6039268" cy="48069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615" y="-182587"/>
            <a:ext cx="7575917" cy="49551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789" y="2085355"/>
            <a:ext cx="7484252" cy="477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1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 flipH="1">
            <a:off x="160971" y="2377200"/>
            <a:ext cx="10272000" cy="4480800"/>
          </a:xfrm>
        </p:spPr>
        <p:txBody>
          <a:bodyPr/>
          <a:lstStyle/>
          <a:p>
            <a:pPr marL="114300" indent="0">
              <a:buNone/>
            </a:pPr>
            <a:r>
              <a:rPr lang="en-US" smtClean="0"/>
              <a:t>    - Visual Studio Code  (</a:t>
            </a:r>
            <a:r>
              <a:rPr lang="en-US" smtClean="0">
                <a:hlinkClick r:id="rId2"/>
              </a:rPr>
              <a:t>https://code.visualstudio.com/</a:t>
            </a:r>
            <a:r>
              <a:rPr lang="en-US" smtClean="0"/>
              <a:t>)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Phầm Mềm Sử Dụng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173" y="3456577"/>
            <a:ext cx="2798283" cy="278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6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/>
              <a:t> </a:t>
            </a:r>
            <a:r>
              <a:rPr lang="en-US" smtClean="0"/>
              <a:t>- Video đính kèm</a:t>
            </a:r>
          </a:p>
          <a:p>
            <a:pPr marL="114300" indent="0">
              <a:buNone/>
            </a:pPr>
            <a:r>
              <a:rPr lang="en-US" smtClean="0">
                <a:hlinkClick r:id="rId2"/>
              </a:rPr>
              <a:t>https://drive.google.com/file/d/17mks1km0KrIqpw7I2poIyqBuWuQFMAdS/view?usp=sharing</a:t>
            </a:r>
            <a:endParaRPr 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875" y="474188"/>
            <a:ext cx="4704541" cy="1682400"/>
          </a:xfrm>
        </p:spPr>
        <p:txBody>
          <a:bodyPr/>
          <a:lstStyle/>
          <a:p>
            <a:r>
              <a:rPr lang="en-US" smtClean="0"/>
              <a:t>Cách Cài Đặt Visual Studio Code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876" y="474188"/>
            <a:ext cx="4219800" cy="1682400"/>
          </a:xfrm>
        </p:spPr>
        <p:txBody>
          <a:bodyPr/>
          <a:lstStyle/>
          <a:p>
            <a:r>
              <a:rPr lang="en-US"/>
              <a:t>Làm quen với HTML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974" y="1820990"/>
            <a:ext cx="9752381" cy="32476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401" y="243825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526" y="239062"/>
            <a:ext cx="76295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1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mtClean="0"/>
              <a:t>HTML </a:t>
            </a:r>
            <a:r>
              <a:rPr lang="en-US"/>
              <a:t>(Hyper Text Markup Language - Ngôn ngữ đánh</a:t>
            </a:r>
          </a:p>
          <a:p>
            <a:pPr marL="571500" indent="-457200">
              <a:buFont typeface="Arial" panose="020B0604020202020204" pitchFamily="34" charset="0"/>
              <a:buChar char="•"/>
            </a:pPr>
            <a:r>
              <a:rPr lang="en-US"/>
              <a:t>dấu siêu văn bản)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Giới Thiệu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7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gnancy Breakthrough by Slidesgo">
  <a:themeElements>
    <a:clrScheme name="Simple Light">
      <a:dk1>
        <a:srgbClr val="434343"/>
      </a:dk1>
      <a:lt1>
        <a:srgbClr val="F2F2F2"/>
      </a:lt1>
      <a:dk2>
        <a:srgbClr val="595959"/>
      </a:dk2>
      <a:lt2>
        <a:srgbClr val="EE8C94"/>
      </a:lt2>
      <a:accent1>
        <a:srgbClr val="F2F2F2"/>
      </a:accent1>
      <a:accent2>
        <a:srgbClr val="EE8C94"/>
      </a:accent2>
      <a:accent3>
        <a:srgbClr val="AED7E8"/>
      </a:accent3>
      <a:accent4>
        <a:srgbClr val="F2D9CF"/>
      </a:accent4>
      <a:accent5>
        <a:srgbClr val="EE8C94"/>
      </a:accent5>
      <a:accent6>
        <a:srgbClr val="AED7E8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Set-of-Abstract-Color-PowerPoint-Templates-Standard</Template>
  <TotalTime>230</TotalTime>
  <Words>225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Assistant ExtraLight</vt:lpstr>
      <vt:lpstr>Marvel</vt:lpstr>
      <vt:lpstr>PT Serif</vt:lpstr>
      <vt:lpstr>Roboto Condensed Light</vt:lpstr>
      <vt:lpstr>Thasadith</vt:lpstr>
      <vt:lpstr>Times New Roman</vt:lpstr>
      <vt:lpstr>Pregnancy Breakthrough by Slidesgo</vt:lpstr>
      <vt:lpstr>THIẾT KẾ WEB Căn Bản</vt:lpstr>
      <vt:lpstr>Mục Tiêu Môn Học</vt:lpstr>
      <vt:lpstr>NỘI DUNG HỌC</vt:lpstr>
      <vt:lpstr>Tài Liệu Tham Khảo</vt:lpstr>
      <vt:lpstr>Giới Thiệu </vt:lpstr>
      <vt:lpstr>Giới Thiệu</vt:lpstr>
      <vt:lpstr>Phầm Mềm Sử Dụng </vt:lpstr>
      <vt:lpstr>Cách Cài Đặt Visual Studio Code</vt:lpstr>
      <vt:lpstr>Làm quen với HTML </vt:lpstr>
      <vt:lpstr>Giới Thiệu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THI THU TRANG</dc:creator>
  <cp:lastModifiedBy>Huy</cp:lastModifiedBy>
  <cp:revision>22</cp:revision>
  <cp:lastPrinted>2021-04-20T16:50:58Z</cp:lastPrinted>
  <dcterms:created xsi:type="dcterms:W3CDTF">2021-04-20T09:25:17Z</dcterms:created>
  <dcterms:modified xsi:type="dcterms:W3CDTF">2021-04-20T16:51:19Z</dcterms:modified>
</cp:coreProperties>
</file>