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60" r:id="rId4"/>
    <p:sldId id="265" r:id="rId5"/>
    <p:sldId id="261" r:id="rId6"/>
    <p:sldId id="262" r:id="rId7"/>
    <p:sldId id="258" r:id="rId8"/>
    <p:sldId id="259" r:id="rId9"/>
    <p:sldId id="263" r:id="rId10"/>
    <p:sldId id="264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hần 1" id="{A7B285E8-410B-4C6E-8258-6896EC3B2F16}">
          <p14:sldIdLst>
            <p14:sldId id="256"/>
            <p14:sldId id="257"/>
            <p14:sldId id="260"/>
            <p14:sldId id="265"/>
            <p14:sldId id="261"/>
            <p14:sldId id="262"/>
            <p14:sldId id="258"/>
            <p14:sldId id="259"/>
          </p14:sldIdLst>
        </p14:section>
        <p14:section name="Phần 2" id="{DD4366EC-3DAC-403A-83A3-5FB13E0979C5}">
          <p14:sldIdLst>
            <p14:sldId id="263"/>
            <p14:sldId id="264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132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3" d="100"/>
          <a:sy n="73" d="100"/>
        </p:scale>
        <p:origin x="2508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2BB216-3FFC-4E73-8813-D25D27091A24}" type="datetimeFigureOut">
              <a:rPr lang="en-US" smtClean="0"/>
              <a:t>4/21/2021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smtClean="0"/>
              <a:t>Siêu văn bản là văn bản có hình ảnh, âm thanh, video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F9ACBD-A1A3-43DB-A149-0AF89A30FB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272247"/>
      </p:ext>
    </p:extLst>
  </p:cSld>
  <p:clrMap bg1="lt1" tx1="dk1" bg2="lt2" tx2="dk2" accent1="accent1" accent2="accent2" accent3="accent3" accent4="accent4" accent5="accent5" accent6="accent6" hlink="hlink" folHlink="folHlink"/>
  <p:hf sldNum="0"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9F31DE-B09B-4AB3-B94D-B44E3319C584}" type="datetimeFigureOut">
              <a:rPr lang="en-US" smtClean="0"/>
              <a:t>4/21/2021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smtClean="0"/>
              <a:t>Siêu văn bản là văn bản có hình ảnh, âm thanh, video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44A87C-6292-4F97-98F6-2B78E35F35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8375198"/>
      </p:ext>
    </p:extLst>
  </p:cSld>
  <p:clrMap bg1="lt1" tx1="dk1" bg2="lt2" tx2="dk2" accent1="accent1" accent2="accent2" accent3="accent3" accent4="accent4" accent5="accent5" accent6="accent6" hlink="hlink" folHlink="folHlink"/>
  <p:hf sldNum="0"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Siêu văn bản là văn bản có hình ảnh, âm thanh, video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7194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Siêu văn bản là văn bản có hình ảnh, âm thanh, video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754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Siêu văn bản là văn bản có hình ảnh, âm thanh, video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856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Siêu văn bản là văn bản có hình ảnh, âm thanh, video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6282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Siêu văn bản là văn bản có hình ảnh, âm thanh, video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644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Siêu văn bản là văn bản có hình ảnh, âm thanh, video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90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939567" y="-310167"/>
            <a:ext cx="10658800" cy="5485200"/>
          </a:xfrm>
          <a:prstGeom prst="roundRect">
            <a:avLst>
              <a:gd name="adj" fmla="val 16667"/>
            </a:avLst>
          </a:prstGeom>
          <a:solidFill>
            <a:srgbClr val="EE8C94">
              <a:alpha val="6067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" name="Google Shape;10;p2"/>
          <p:cNvSpPr/>
          <p:nvPr/>
        </p:nvSpPr>
        <p:spPr>
          <a:xfrm>
            <a:off x="7218533" y="3763467"/>
            <a:ext cx="3884400" cy="3480000"/>
          </a:xfrm>
          <a:prstGeom prst="roundRect">
            <a:avLst>
              <a:gd name="adj" fmla="val 16667"/>
            </a:avLst>
          </a:prstGeom>
          <a:solidFill>
            <a:srgbClr val="AED7E8">
              <a:alpha val="5281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1" name="Google Shape;11;p2"/>
          <p:cNvSpPr/>
          <p:nvPr/>
        </p:nvSpPr>
        <p:spPr>
          <a:xfrm rot="5400000">
            <a:off x="10531767" y="543600"/>
            <a:ext cx="2815200" cy="2603200"/>
          </a:xfrm>
          <a:prstGeom prst="roundRect">
            <a:avLst>
              <a:gd name="adj" fmla="val 16667"/>
            </a:avLst>
          </a:prstGeom>
          <a:solidFill>
            <a:srgbClr val="AED7E8">
              <a:alpha val="52810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 rot="896">
            <a:off x="1391601" y="1210400"/>
            <a:ext cx="9205600" cy="27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8000">
                <a:solidFill>
                  <a:schemeClr val="l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Font typeface="Thasadith"/>
              <a:buNone/>
              <a:defRPr sz="6933">
                <a:latin typeface="Thasadith"/>
                <a:ea typeface="Thasadith"/>
                <a:cs typeface="Thasadith"/>
                <a:sym typeface="Thasadith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Font typeface="Thasadith"/>
              <a:buNone/>
              <a:defRPr sz="6933">
                <a:latin typeface="Thasadith"/>
                <a:ea typeface="Thasadith"/>
                <a:cs typeface="Thasadith"/>
                <a:sym typeface="Thasadith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Font typeface="Thasadith"/>
              <a:buNone/>
              <a:defRPr sz="6933">
                <a:latin typeface="Thasadith"/>
                <a:ea typeface="Thasadith"/>
                <a:cs typeface="Thasadith"/>
                <a:sym typeface="Thasadith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Font typeface="Thasadith"/>
              <a:buNone/>
              <a:defRPr sz="6933">
                <a:latin typeface="Thasadith"/>
                <a:ea typeface="Thasadith"/>
                <a:cs typeface="Thasadith"/>
                <a:sym typeface="Thasadith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Font typeface="Thasadith"/>
              <a:buNone/>
              <a:defRPr sz="6933">
                <a:latin typeface="Thasadith"/>
                <a:ea typeface="Thasadith"/>
                <a:cs typeface="Thasadith"/>
                <a:sym typeface="Thasadith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Font typeface="Thasadith"/>
              <a:buNone/>
              <a:defRPr sz="6933">
                <a:latin typeface="Thasadith"/>
                <a:ea typeface="Thasadith"/>
                <a:cs typeface="Thasadith"/>
                <a:sym typeface="Thasadith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Font typeface="Thasadith"/>
              <a:buNone/>
              <a:defRPr sz="6933">
                <a:latin typeface="Thasadith"/>
                <a:ea typeface="Thasadith"/>
                <a:cs typeface="Thasadith"/>
                <a:sym typeface="Thasadith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Font typeface="Thasadith"/>
              <a:buNone/>
              <a:defRPr sz="6933">
                <a:latin typeface="Thasadith"/>
                <a:ea typeface="Thasadith"/>
                <a:cs typeface="Thasadith"/>
                <a:sym typeface="Thasadith"/>
              </a:defRPr>
            </a:lvl9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 rot="1416">
            <a:off x="7275949" y="5254433"/>
            <a:ext cx="3884400" cy="105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 sz="3733">
                <a:latin typeface="PT Serif"/>
                <a:ea typeface="PT Serif"/>
                <a:cs typeface="PT Serif"/>
                <a:sym typeface="PT Serif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 sz="3733">
                <a:latin typeface="PT Serif"/>
                <a:ea typeface="PT Serif"/>
                <a:cs typeface="PT Serif"/>
                <a:sym typeface="PT Serif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 sz="3733">
                <a:latin typeface="PT Serif"/>
                <a:ea typeface="PT Serif"/>
                <a:cs typeface="PT Serif"/>
                <a:sym typeface="PT Serif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 sz="3733">
                <a:latin typeface="PT Serif"/>
                <a:ea typeface="PT Serif"/>
                <a:cs typeface="PT Serif"/>
                <a:sym typeface="PT Serif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 sz="3733">
                <a:latin typeface="PT Serif"/>
                <a:ea typeface="PT Serif"/>
                <a:cs typeface="PT Serif"/>
                <a:sym typeface="PT Serif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 sz="3733">
                <a:latin typeface="PT Serif"/>
                <a:ea typeface="PT Serif"/>
                <a:cs typeface="PT Serif"/>
                <a:sym typeface="PT Serif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 sz="3733">
                <a:latin typeface="PT Serif"/>
                <a:ea typeface="PT Serif"/>
                <a:cs typeface="PT Serif"/>
                <a:sym typeface="PT Serif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PT Serif"/>
              <a:buNone/>
              <a:defRPr sz="3733">
                <a:latin typeface="PT Serif"/>
                <a:ea typeface="PT Serif"/>
                <a:cs typeface="PT Serif"/>
                <a:sym typeface="PT Serif"/>
              </a:defRPr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2" name="Rectangle 1"/>
          <p:cNvSpPr/>
          <p:nvPr userDrawn="1"/>
        </p:nvSpPr>
        <p:spPr>
          <a:xfrm>
            <a:off x="0" y="6581001"/>
            <a:ext cx="2443746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Coppyright</a:t>
            </a:r>
            <a:r>
              <a:rPr lang="en-US" sz="1200" b="0" cap="none" spc="0" baseline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© Nguyen Thanh Huy</a:t>
            </a:r>
            <a:endParaRPr lang="en-US" sz="1200" b="0" cap="none" spc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8063708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/>
          <p:nvPr/>
        </p:nvSpPr>
        <p:spPr>
          <a:xfrm>
            <a:off x="-165000" y="-54567"/>
            <a:ext cx="2019200" cy="1410800"/>
          </a:xfrm>
          <a:prstGeom prst="roundRect">
            <a:avLst>
              <a:gd name="adj" fmla="val 16667"/>
            </a:avLst>
          </a:prstGeom>
          <a:solidFill>
            <a:srgbClr val="EE8C94">
              <a:alpha val="25279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 flipH="1">
            <a:off x="833000" y="1762400"/>
            <a:ext cx="10272000" cy="448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2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/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792876" y="474188"/>
            <a:ext cx="4207200" cy="16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4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4000"/>
            </a:lvl9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3" name="Rectangle 2"/>
          <p:cNvSpPr/>
          <p:nvPr userDrawn="1"/>
        </p:nvSpPr>
        <p:spPr>
          <a:xfrm>
            <a:off x="9466575" y="6550223"/>
            <a:ext cx="2725425" cy="3077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algn="ctr"/>
            <a:r>
              <a:rPr lang="en-US" sz="1400" b="0" cap="none" spc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Coppyright © Nguyen</a:t>
            </a:r>
            <a:r>
              <a:rPr lang="en-US" sz="1400" b="0" cap="none" spc="0" baseline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ThanhHuy</a:t>
            </a:r>
            <a:endParaRPr lang="en-US" sz="1400" b="0" cap="none" spc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7093098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/>
          <p:nvPr/>
        </p:nvSpPr>
        <p:spPr>
          <a:xfrm>
            <a:off x="-165000" y="-54567"/>
            <a:ext cx="2019200" cy="1410800"/>
          </a:xfrm>
          <a:prstGeom prst="roundRect">
            <a:avLst>
              <a:gd name="adj" fmla="val 16667"/>
            </a:avLst>
          </a:prstGeom>
          <a:solidFill>
            <a:srgbClr val="EE8C94">
              <a:alpha val="25279"/>
            </a:srgbClr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8" name="Google Shape;48;p10"/>
          <p:cNvSpPr txBox="1">
            <a:spLocks noGrp="1"/>
          </p:cNvSpPr>
          <p:nvPr>
            <p:ph type="subTitle" idx="1"/>
          </p:nvPr>
        </p:nvSpPr>
        <p:spPr>
          <a:xfrm flipH="1">
            <a:off x="812773" y="1648373"/>
            <a:ext cx="2982800" cy="339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/>
          </a:p>
        </p:txBody>
      </p:sp>
      <p:sp>
        <p:nvSpPr>
          <p:cNvPr id="49" name="Google Shape;49;p10"/>
          <p:cNvSpPr txBox="1">
            <a:spLocks noGrp="1"/>
          </p:cNvSpPr>
          <p:nvPr>
            <p:ph type="title"/>
          </p:nvPr>
        </p:nvSpPr>
        <p:spPr>
          <a:xfrm>
            <a:off x="792868" y="474193"/>
            <a:ext cx="3410800" cy="7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4000"/>
            </a:lvl9pPr>
          </a:lstStyle>
          <a:p>
            <a:r>
              <a:rPr lang="en-US" smtClean="0"/>
              <a:t>Click to edit Master title style</a:t>
            </a:r>
            <a:endParaRPr/>
          </a:p>
        </p:txBody>
      </p:sp>
      <p:sp>
        <p:nvSpPr>
          <p:cNvPr id="2" name="Rectangle 1"/>
          <p:cNvSpPr/>
          <p:nvPr userDrawn="1"/>
        </p:nvSpPr>
        <p:spPr>
          <a:xfrm>
            <a:off x="9466575" y="6545410"/>
            <a:ext cx="2725425" cy="30777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none">
            <a:spAutoFit/>
          </a:bodyPr>
          <a:lstStyle/>
          <a:p>
            <a:pPr algn="ctr"/>
            <a:r>
              <a:rPr lang="en-US" sz="1400" b="0" cap="none" spc="0" smtClean="0">
                <a:ln w="0"/>
                <a:solidFill>
                  <a:schemeClr val="tx1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Coppyright © Nguyen</a:t>
            </a:r>
            <a:r>
              <a:rPr lang="en-US" sz="1400" b="0" cap="none" spc="0" baseline="0" smtClean="0">
                <a:ln w="0"/>
                <a:solidFill>
                  <a:schemeClr val="tx1">
                    <a:lumMod val="20000"/>
                    <a:lumOff val="80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ThanhHuy</a:t>
            </a:r>
            <a:endParaRPr lang="en-US" sz="1400" b="0" cap="none" spc="0">
              <a:ln w="0"/>
              <a:solidFill>
                <a:schemeClr val="tx1">
                  <a:lumMod val="20000"/>
                  <a:lumOff val="80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274702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rvel"/>
              <a:buNone/>
              <a:defRPr sz="2400" b="1">
                <a:solidFill>
                  <a:schemeClr val="dk1"/>
                </a:solidFill>
                <a:latin typeface="Marvel"/>
                <a:ea typeface="Marvel"/>
                <a:cs typeface="Marvel"/>
                <a:sym typeface="Marve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 ExtraLight"/>
              <a:buChar char="●"/>
              <a:defRPr sz="1800"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 ExtraLight"/>
              <a:buChar char="○"/>
              <a:defRPr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2pPr>
            <a:lvl3pPr marL="1371600" lvl="2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 ExtraLight"/>
              <a:buChar char="■"/>
              <a:defRPr sz="1200"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3pPr>
            <a:lvl4pPr marL="1828800" lvl="3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 ExtraLight"/>
              <a:buChar char="●"/>
              <a:defRPr sz="1200"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4pPr>
            <a:lvl5pPr marL="2286000" lvl="4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 ExtraLight"/>
              <a:buChar char="○"/>
              <a:defRPr sz="1200"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5pPr>
            <a:lvl6pPr marL="2743200" lvl="5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 ExtraLight"/>
              <a:buChar char="■"/>
              <a:defRPr sz="1200"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6pPr>
            <a:lvl7pPr marL="3200400" lvl="6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 ExtraLight"/>
              <a:buChar char="●"/>
              <a:defRPr sz="1200"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7pPr>
            <a:lvl8pPr marL="3657600" lvl="7" indent="-304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ssistant ExtraLight"/>
              <a:buChar char="○"/>
              <a:defRPr sz="1200"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8pPr>
            <a:lvl9pPr marL="4114800" lvl="8" indent="-30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Assistant ExtraLight"/>
              <a:buChar char="■"/>
              <a:defRPr sz="1200">
                <a:solidFill>
                  <a:schemeClr val="dk1"/>
                </a:solidFill>
                <a:latin typeface="Assistant ExtraLight"/>
                <a:ea typeface="Assistant ExtraLight"/>
                <a:cs typeface="Assistant ExtraLight"/>
                <a:sym typeface="Assistant Extra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48572054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81" r:id="rId2"/>
    <p:sldLayoutId id="2147483684" r:id="rId3"/>
  </p:sldLayoutIdLst>
  <p:timing>
    <p:tnLst>
      <p:par>
        <p:cTn id="1" dur="indefinite" restart="never" nodeType="tmRoot"/>
      </p:par>
    </p:tnLst>
  </p:timing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groups/832920466869765/" TargetMode="External"/><Relationship Id="rId3" Type="http://schemas.openxmlformats.org/officeDocument/2006/relationships/hyperlink" Target="https://xuanthulab.net/khai-quat-ve-html.html" TargetMode="External"/><Relationship Id="rId7" Type="http://schemas.openxmlformats.org/officeDocument/2006/relationships/hyperlink" Target="https://www.facebook.com/groups/1065116420221723/" TargetMode="External"/><Relationship Id="rId2" Type="http://schemas.openxmlformats.org/officeDocument/2006/relationships/hyperlink" Target="https://www.w3schools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hiepsiit.com/detail/html/ngonngucss" TargetMode="External"/><Relationship Id="rId5" Type="http://schemas.openxmlformats.org/officeDocument/2006/relationships/hyperlink" Target="http://hiepsiit.com/detail/html/ngon-ngu-html" TargetMode="External"/><Relationship Id="rId4" Type="http://schemas.openxmlformats.org/officeDocument/2006/relationships/hyperlink" Target="https://xuanthulab.net/css-la-gi-cach-nhung-ma-css-vao-html.htm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zalo.me/pc" TargetMode="External"/><Relationship Id="rId4" Type="http://schemas.openxmlformats.org/officeDocument/2006/relationships/hyperlink" Target="https://tuoitre.v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.visualstudio.com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THIẾT KẾ WEB Căn Bản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8817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buFontTx/>
              <a:buChar char="-"/>
            </a:pPr>
            <a:endParaRPr lang="en-US" smtClean="0"/>
          </a:p>
          <a:p>
            <a:pPr>
              <a:buFontTx/>
              <a:buChar char="-"/>
            </a:pPr>
            <a:r>
              <a:rPr lang="en-US" smtClean="0"/>
              <a:t>Có kiến thức cơ bản về thiết kế website , là nền tảng cho môn Công nghệ web</a:t>
            </a:r>
          </a:p>
          <a:p>
            <a:pPr marL="114300" indent="0">
              <a:buNone/>
            </a:pPr>
            <a:endParaRPr lang="en-US" smtClean="0"/>
          </a:p>
          <a:p>
            <a:pPr>
              <a:buFontTx/>
              <a:buChar char="-"/>
            </a:pPr>
            <a:r>
              <a:rPr lang="en-US" smtClean="0"/>
              <a:t>Tự thiết kế riêng cho mình một trang website tĩnh</a:t>
            </a:r>
          </a:p>
          <a:p>
            <a:pPr>
              <a:buFontTx/>
              <a:buChar char="-"/>
            </a:pPr>
            <a:endParaRPr lang="en-US"/>
          </a:p>
          <a:p>
            <a:pPr>
              <a:buFontTx/>
              <a:buChar char="-"/>
            </a:pPr>
            <a:r>
              <a:rPr lang="en-US" smtClean="0"/>
              <a:t> Thời gian kết thúc dự kiến 13 buổi</a:t>
            </a:r>
          </a:p>
          <a:p>
            <a:pPr>
              <a:buFontTx/>
              <a:buChar char="-"/>
            </a:pPr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Mục Tiêu Môn Học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367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smtClean="0"/>
              <a:t>Phần 1 – Giới thiệu &amp; Cài đặt phần mềm sử dụng</a:t>
            </a:r>
          </a:p>
          <a:p>
            <a:pPr marL="114300" indent="0">
              <a:buNone/>
            </a:pPr>
            <a:r>
              <a:rPr lang="en-US" smtClean="0"/>
              <a:t>Phần 2 – Làm quen với HTML</a:t>
            </a:r>
          </a:p>
          <a:p>
            <a:pPr marL="114300" indent="0">
              <a:buNone/>
            </a:pPr>
            <a:r>
              <a:rPr lang="en-US" smtClean="0"/>
              <a:t>Phần 3 – Làm quen với CSS</a:t>
            </a:r>
          </a:p>
          <a:p>
            <a:pPr marL="114300" indent="0">
              <a:buNone/>
            </a:pPr>
            <a:r>
              <a:rPr lang="en-US" smtClean="0"/>
              <a:t>Phần 4 – Làm quen với Javascript</a:t>
            </a:r>
          </a:p>
          <a:p>
            <a:pPr marL="114300" indent="0">
              <a:buNone/>
            </a:pPr>
            <a:r>
              <a:rPr lang="en-US" smtClean="0"/>
              <a:t>Phần 5 – Tiểu luận</a:t>
            </a:r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en-US" b="0"/>
              <a:t>NỘI DUNG HỌC</a:t>
            </a:r>
          </a:p>
        </p:txBody>
      </p:sp>
    </p:spTree>
    <p:extLst>
      <p:ext uri="{BB962C8B-B14F-4D97-AF65-F5344CB8AC3E}">
        <p14:creationId xmlns:p14="http://schemas.microsoft.com/office/powerpoint/2010/main" val="1570671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mtClean="0">
                <a:hlinkClick r:id="rId2"/>
              </a:rPr>
              <a:t>https://www.w3schools.com/</a:t>
            </a:r>
            <a:r>
              <a:rPr lang="en-US" smtClean="0"/>
              <a:t> </a:t>
            </a:r>
          </a:p>
          <a:p>
            <a:r>
              <a:rPr lang="en-US">
                <a:hlinkClick r:id="rId3"/>
              </a:rPr>
              <a:t>https://</a:t>
            </a:r>
            <a:r>
              <a:rPr lang="en-US" smtClean="0">
                <a:hlinkClick r:id="rId3"/>
              </a:rPr>
              <a:t>xuanthulab.net/khai-quat-ve-html.html</a:t>
            </a:r>
            <a:endParaRPr lang="en-US" smtClean="0"/>
          </a:p>
          <a:p>
            <a:r>
              <a:rPr lang="en-US">
                <a:hlinkClick r:id="rId4"/>
              </a:rPr>
              <a:t>https://</a:t>
            </a:r>
            <a:r>
              <a:rPr lang="en-US" smtClean="0">
                <a:hlinkClick r:id="rId4"/>
              </a:rPr>
              <a:t>xuanthulab.net/css-la-gi-cach-nhung-ma-css-vao-html.html</a:t>
            </a:r>
            <a:endParaRPr lang="en-US" smtClean="0"/>
          </a:p>
          <a:p>
            <a:r>
              <a:rPr lang="en-US" smtClean="0">
                <a:hlinkClick r:id="rId5"/>
              </a:rPr>
              <a:t>http://hiepsiit.com/detail/html/ngon-ngu-html</a:t>
            </a:r>
            <a:endParaRPr lang="en-US">
              <a:hlinkClick r:id="rId5"/>
            </a:endParaRPr>
          </a:p>
          <a:p>
            <a:r>
              <a:rPr lang="en-US" smtClean="0">
                <a:hlinkClick r:id="rId6"/>
              </a:rPr>
              <a:t>http://hiepsiit.com/detail/html/ngonngucss</a:t>
            </a:r>
            <a:endParaRPr lang="en-US" smtClean="0"/>
          </a:p>
          <a:p>
            <a:r>
              <a:rPr lang="en-US" smtClean="0">
                <a:hlinkClick r:id="rId7"/>
              </a:rPr>
              <a:t>https://www.facebook.com/groups/1065116420221723/</a:t>
            </a:r>
            <a:endParaRPr lang="en-US" smtClean="0"/>
          </a:p>
          <a:p>
            <a:r>
              <a:rPr lang="en-US" smtClean="0">
                <a:hlinkClick r:id="rId8"/>
              </a:rPr>
              <a:t>https://www.facebook.com/groups/832920466869765/</a:t>
            </a:r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Tài Liệu Tham Khảo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7356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smtClean="0"/>
              <a:t>Trang web là gì?</a:t>
            </a:r>
          </a:p>
          <a:p>
            <a:pPr marL="114300" indent="0">
              <a:buNone/>
            </a:pPr>
            <a:r>
              <a:rPr lang="en-US"/>
              <a:t> </a:t>
            </a:r>
            <a:r>
              <a:rPr lang="en-US" smtClean="0"/>
              <a:t>   - </a:t>
            </a:r>
            <a:r>
              <a:rPr lang="vi-VN"/>
              <a:t>Một trang web là một tập tin chứa thông </a:t>
            </a:r>
            <a:r>
              <a:rPr lang="vi-VN" smtClean="0"/>
              <a:t>tin</a:t>
            </a:r>
            <a:r>
              <a:rPr lang="en-US" smtClean="0"/>
              <a:t> (văn bản, hình ảnh, âm thanh, video,…)</a:t>
            </a:r>
            <a:r>
              <a:rPr lang="vi-VN" smtClean="0"/>
              <a:t> </a:t>
            </a:r>
            <a:r>
              <a:rPr lang="vi-VN"/>
              <a:t>được hiển thị cho người sử </a:t>
            </a:r>
            <a:r>
              <a:rPr lang="vi-VN" smtClean="0"/>
              <a:t>dụng</a:t>
            </a:r>
            <a:r>
              <a:rPr lang="en-US" smtClean="0"/>
              <a:t> xem và tương tác</a:t>
            </a:r>
          </a:p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 smtClean="0"/>
              <a:t>   - VD: </a:t>
            </a:r>
            <a:r>
              <a:rPr lang="en-US" smtClean="0">
                <a:hlinkClick r:id="rId3"/>
              </a:rPr>
              <a:t>https://www.youtube.com/</a:t>
            </a:r>
            <a:r>
              <a:rPr lang="en-US" smtClean="0"/>
              <a:t>   </a:t>
            </a:r>
          </a:p>
          <a:p>
            <a:pPr marL="114300" indent="0">
              <a:buNone/>
            </a:pPr>
            <a:r>
              <a:rPr lang="en-US"/>
              <a:t> </a:t>
            </a:r>
            <a:r>
              <a:rPr lang="en-US" smtClean="0"/>
              <a:t>           </a:t>
            </a:r>
            <a:r>
              <a:rPr lang="en-US" smtClean="0">
                <a:hlinkClick r:id="rId4"/>
              </a:rPr>
              <a:t>https://tuoitre.vn/</a:t>
            </a:r>
            <a:endParaRPr lang="en-US" smtClean="0"/>
          </a:p>
          <a:p>
            <a:pPr marL="114300" indent="0">
              <a:buNone/>
            </a:pPr>
            <a:r>
              <a:rPr lang="en-US"/>
              <a:t> </a:t>
            </a:r>
            <a:r>
              <a:rPr lang="en-US" smtClean="0"/>
              <a:t>           </a:t>
            </a:r>
            <a:r>
              <a:rPr lang="en-US" smtClean="0">
                <a:hlinkClick r:id="rId5"/>
              </a:rPr>
              <a:t>https://zalo.me/pc </a:t>
            </a:r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Giới Thiệu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652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Giới Thiệu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161" y="1315388"/>
            <a:ext cx="6039268" cy="480694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7615" y="-182587"/>
            <a:ext cx="7575917" cy="495517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1789" y="2085355"/>
            <a:ext cx="7484252" cy="4772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412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 flipH="1">
            <a:off x="160971" y="2377200"/>
            <a:ext cx="10272000" cy="4480800"/>
          </a:xfrm>
        </p:spPr>
        <p:txBody>
          <a:bodyPr/>
          <a:lstStyle/>
          <a:p>
            <a:pPr marL="114300" indent="0">
              <a:buNone/>
            </a:pPr>
            <a:r>
              <a:rPr lang="en-US" smtClean="0"/>
              <a:t>    - Visual Studio Code  (</a:t>
            </a:r>
            <a:r>
              <a:rPr lang="en-US" smtClean="0">
                <a:hlinkClick r:id="rId3"/>
              </a:rPr>
              <a:t>https://code.visualstudio.com/</a:t>
            </a:r>
            <a:r>
              <a:rPr lang="en-US" smtClean="0"/>
              <a:t>)</a:t>
            </a:r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Phầm Mềm Sử Dụng </a:t>
            </a: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173" y="3456577"/>
            <a:ext cx="2798283" cy="278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71694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/>
              <a:t> </a:t>
            </a:r>
            <a:r>
              <a:rPr lang="en-US" smtClean="0"/>
              <a:t>- Video đính kèm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92875" y="474188"/>
            <a:ext cx="4704541" cy="1682400"/>
          </a:xfrm>
        </p:spPr>
        <p:txBody>
          <a:bodyPr/>
          <a:lstStyle/>
          <a:p>
            <a:r>
              <a:rPr lang="en-US" smtClean="0"/>
              <a:t>Cách Cài Đặt Visual Studio Code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807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92876" y="474188"/>
            <a:ext cx="4219800" cy="1682400"/>
          </a:xfrm>
        </p:spPr>
        <p:txBody>
          <a:bodyPr/>
          <a:lstStyle/>
          <a:p>
            <a:r>
              <a:rPr lang="en-US"/>
              <a:t>Làm quen với HTML</a:t>
            </a:r>
            <a:br>
              <a:rPr lang="en-US"/>
            </a:br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97974" y="1820990"/>
            <a:ext cx="9752381" cy="324761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0401" y="243825"/>
            <a:ext cx="2143125" cy="214312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3526" y="239062"/>
            <a:ext cx="76295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6186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571500" indent="-457200">
              <a:buFont typeface="Arial" panose="020B0604020202020204" pitchFamily="34" charset="0"/>
              <a:buChar char="•"/>
            </a:pPr>
            <a:r>
              <a:rPr lang="en-US" smtClean="0"/>
              <a:t>- HTML ( </a:t>
            </a:r>
            <a:r>
              <a:rPr lang="en-US"/>
              <a:t>HyperText Markup </a:t>
            </a:r>
            <a:r>
              <a:rPr lang="en-US" smtClean="0"/>
              <a:t>Language) là </a:t>
            </a:r>
            <a:r>
              <a:rPr lang="en-US"/>
              <a:t>ngôn ngữ đánh dấu siêu văn </a:t>
            </a:r>
            <a:r>
              <a:rPr lang="en-US" smtClean="0"/>
              <a:t>bản</a:t>
            </a:r>
            <a:r>
              <a:rPr lang="en-US" baseline="54000"/>
              <a:t>1</a:t>
            </a:r>
            <a:r>
              <a:rPr lang="en-US" smtClean="0"/>
              <a:t>.</a:t>
            </a:r>
          </a:p>
          <a:p>
            <a:pPr marL="571500" indent="-457200">
              <a:buFont typeface="Arial" panose="020B0604020202020204" pitchFamily="34" charset="0"/>
              <a:buChar char="•"/>
            </a:pPr>
            <a:endParaRPr lang="en-US" smtClean="0"/>
          </a:p>
          <a:p>
            <a:pPr marL="571500" indent="-457200">
              <a:buFont typeface="Arial" panose="020B0604020202020204" pitchFamily="34" charset="0"/>
              <a:buChar char="•"/>
            </a:pPr>
            <a:r>
              <a:rPr lang="en-US"/>
              <a:t>- </a:t>
            </a:r>
            <a:r>
              <a:rPr lang="en-US" smtClean="0"/>
              <a:t>L</a:t>
            </a:r>
            <a:r>
              <a:rPr lang="vi-VN" smtClean="0"/>
              <a:t>à </a:t>
            </a:r>
            <a:r>
              <a:rPr lang="vi-VN"/>
              <a:t>một ngôn </a:t>
            </a:r>
            <a:r>
              <a:rPr lang="vi-VN"/>
              <a:t>ngữ </a:t>
            </a:r>
            <a:r>
              <a:rPr lang="vi-VN" smtClean="0"/>
              <a:t>được </a:t>
            </a:r>
            <a:r>
              <a:rPr lang="vi-VN"/>
              <a:t>thiết kế ra để tạo nên các </a:t>
            </a:r>
            <a:r>
              <a:rPr lang="vi-VN"/>
              <a:t>trang </a:t>
            </a:r>
            <a:r>
              <a:rPr lang="en-US" smtClean="0"/>
              <a:t>W</a:t>
            </a:r>
            <a:r>
              <a:rPr lang="vi-VN" smtClean="0"/>
              <a:t>eb</a:t>
            </a:r>
            <a:endParaRPr lang="en-US" smtClean="0"/>
          </a:p>
          <a:p>
            <a:pPr marL="571500" indent="-457200">
              <a:buFont typeface="Arial" panose="020B0604020202020204" pitchFamily="34" charset="0"/>
              <a:buChar char="•"/>
            </a:pPr>
            <a:endParaRPr lang="en-US" smtClean="0"/>
          </a:p>
          <a:p>
            <a:pPr marL="571500" indent="-457200">
              <a:buFont typeface="Arial" panose="020B0604020202020204" pitchFamily="34" charset="0"/>
              <a:buChar char="•"/>
            </a:pPr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92876" y="474188"/>
            <a:ext cx="3834208" cy="1024106"/>
          </a:xfrm>
        </p:spPr>
        <p:txBody>
          <a:bodyPr/>
          <a:lstStyle/>
          <a:p>
            <a:r>
              <a:rPr lang="en-US" smtClean="0"/>
              <a:t>Khái Niệm</a:t>
            </a:r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-26316" y="6611779"/>
            <a:ext cx="3365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1. Siêu văn bản là văn bản có hình ảnh, âm thanh, video</a:t>
            </a:r>
          </a:p>
        </p:txBody>
      </p:sp>
    </p:spTree>
    <p:extLst>
      <p:ext uri="{BB962C8B-B14F-4D97-AF65-F5344CB8AC3E}">
        <p14:creationId xmlns:p14="http://schemas.microsoft.com/office/powerpoint/2010/main" val="3855079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571500" indent="-457200">
              <a:buFont typeface="Arial" panose="020B0604020202020204" pitchFamily="34" charset="0"/>
              <a:buChar char="•"/>
            </a:pPr>
            <a:r>
              <a:rPr lang="en-US"/>
              <a:t>- </a:t>
            </a:r>
            <a:r>
              <a:rPr lang="vi-VN"/>
              <a:t>Một tài liệu HTML được hình thành bởi các phần tử HTML (HTML Elements) được quy định bằng các cặp thẻ (tag và attributes)</a:t>
            </a:r>
            <a:endParaRPr lang="en-US"/>
          </a:p>
          <a:p>
            <a:pPr marL="571500" indent="-457200">
              <a:buFont typeface="Arial" panose="020B0604020202020204" pitchFamily="34" charset="0"/>
              <a:buChar char="•"/>
            </a:pPr>
            <a:endParaRPr lang="en-US"/>
          </a:p>
          <a:p>
            <a:pPr marL="571500" indent="-457200">
              <a:buFont typeface="Arial" panose="020B0604020202020204" pitchFamily="34" charset="0"/>
              <a:buChar char="•"/>
            </a:pPr>
            <a:r>
              <a:rPr lang="en-US"/>
              <a:t>- </a:t>
            </a:r>
            <a:r>
              <a:rPr lang="vi-VN"/>
              <a:t>Các cặp thẻ này được bao bọc bởi một dấu ngoặc n</a:t>
            </a:r>
            <a:r>
              <a:rPr lang="en-US"/>
              <a:t>h</a:t>
            </a:r>
            <a:r>
              <a:rPr lang="vi-VN"/>
              <a:t>ọn (v</a:t>
            </a:r>
            <a:r>
              <a:rPr lang="en-US"/>
              <a:t>d:</a:t>
            </a:r>
            <a:r>
              <a:rPr lang="vi-VN"/>
              <a:t> &lt;html&gt;) và thường là sẽ được khai báo thành một cặp, bao gồm thẻ mở và thẻ đóng</a:t>
            </a:r>
            <a:r>
              <a:rPr lang="en-US"/>
              <a:t> (vd: &lt;html&gt; … &lt;/html&gt;)</a:t>
            </a:r>
          </a:p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Khái Niệm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378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012" y="1691400"/>
            <a:ext cx="10003316" cy="4797356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Cấu </a:t>
            </a:r>
            <a:r>
              <a:rPr lang="en-US" smtClean="0"/>
              <a:t>Trúc Trang </a:t>
            </a:r>
            <a:r>
              <a:rPr lang="en-US"/>
              <a:t>HTML</a:t>
            </a:r>
          </a:p>
        </p:txBody>
      </p:sp>
    </p:spTree>
    <p:extLst>
      <p:ext uri="{BB962C8B-B14F-4D97-AF65-F5344CB8AC3E}">
        <p14:creationId xmlns:p14="http://schemas.microsoft.com/office/powerpoint/2010/main" val="1392008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gnancy Breakthrough by Slidesgo">
  <a:themeElements>
    <a:clrScheme name="Simple Light">
      <a:dk1>
        <a:srgbClr val="434343"/>
      </a:dk1>
      <a:lt1>
        <a:srgbClr val="F2F2F2"/>
      </a:lt1>
      <a:dk2>
        <a:srgbClr val="595959"/>
      </a:dk2>
      <a:lt2>
        <a:srgbClr val="EE8C94"/>
      </a:lt2>
      <a:accent1>
        <a:srgbClr val="F2F2F2"/>
      </a:accent1>
      <a:accent2>
        <a:srgbClr val="EE8C94"/>
      </a:accent2>
      <a:accent3>
        <a:srgbClr val="AED7E8"/>
      </a:accent3>
      <a:accent4>
        <a:srgbClr val="F2D9CF"/>
      </a:accent4>
      <a:accent5>
        <a:srgbClr val="EE8C94"/>
      </a:accent5>
      <a:accent6>
        <a:srgbClr val="AED7E8"/>
      </a:accent6>
      <a:hlink>
        <a:srgbClr val="43434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Set-of-Abstract-Color-PowerPoint-Templates-Standard</Template>
  <TotalTime>269</TotalTime>
  <Words>425</Words>
  <Application>Microsoft Office PowerPoint</Application>
  <PresentationFormat>Widescreen</PresentationFormat>
  <Paragraphs>51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Assistant ExtraLight</vt:lpstr>
      <vt:lpstr>Calibri</vt:lpstr>
      <vt:lpstr>Marvel</vt:lpstr>
      <vt:lpstr>PT Serif</vt:lpstr>
      <vt:lpstr>Roboto Condensed Light</vt:lpstr>
      <vt:lpstr>Thasadith</vt:lpstr>
      <vt:lpstr>Times New Roman</vt:lpstr>
      <vt:lpstr>Pregnancy Breakthrough by Slidesgo</vt:lpstr>
      <vt:lpstr>THIẾT KẾ WEB Căn Bản</vt:lpstr>
      <vt:lpstr>Mục Tiêu Môn Học</vt:lpstr>
      <vt:lpstr>NỘI DUNG HỌC</vt:lpstr>
      <vt:lpstr>Tài Liệu Tham Khảo</vt:lpstr>
      <vt:lpstr>Giới Thiệu </vt:lpstr>
      <vt:lpstr>Giới Thiệu</vt:lpstr>
      <vt:lpstr>Phầm Mềm Sử Dụng </vt:lpstr>
      <vt:lpstr>Cách Cài Đặt Visual Studio Code</vt:lpstr>
      <vt:lpstr>Làm quen với HTML </vt:lpstr>
      <vt:lpstr>Khái Niệm</vt:lpstr>
      <vt:lpstr>Khái Niệm</vt:lpstr>
      <vt:lpstr>Cấu Trúc Trang HTML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NGUYEN THI THU TRANG</dc:creator>
  <cp:lastModifiedBy>Huy</cp:lastModifiedBy>
  <cp:revision>27</cp:revision>
  <cp:lastPrinted>2021-04-20T16:50:58Z</cp:lastPrinted>
  <dcterms:created xsi:type="dcterms:W3CDTF">2021-04-20T09:25:17Z</dcterms:created>
  <dcterms:modified xsi:type="dcterms:W3CDTF">2021-04-21T03:47:36Z</dcterms:modified>
</cp:coreProperties>
</file>